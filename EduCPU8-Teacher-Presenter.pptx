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13406A-751C-40BF-9A25-E3724C78A093}" v="2" dt="2026-08-18T01:33:01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an Groom" userId="c0864208-1521-4c67-aa68-e1e773d853ea" providerId="ADAL" clId="{607B0EEA-5066-49DA-B272-2BC1E1409C7D}"/>
    <pc:docChg chg="undo custSel delSld modSld">
      <pc:chgData name="Dean Groom" userId="c0864208-1521-4c67-aa68-e1e773d853ea" providerId="ADAL" clId="{607B0EEA-5066-49DA-B272-2BC1E1409C7D}" dt="2026-08-18T01:43:37.922" v="94" actId="20577"/>
      <pc:docMkLst>
        <pc:docMk/>
      </pc:docMkLst>
      <pc:sldChg chg="addSp delSp modSp mod">
        <pc:chgData name="Dean Groom" userId="c0864208-1521-4c67-aa68-e1e773d853ea" providerId="ADAL" clId="{607B0EEA-5066-49DA-B272-2BC1E1409C7D}" dt="2026-08-18T01:33:05.172" v="50" actId="1076"/>
        <pc:sldMkLst>
          <pc:docMk/>
          <pc:sldMk cId="0" sldId="256"/>
        </pc:sldMkLst>
        <pc:spChg chg="mod">
          <ac:chgData name="Dean Groom" userId="c0864208-1521-4c67-aa68-e1e773d853ea" providerId="ADAL" clId="{607B0EEA-5066-49DA-B272-2BC1E1409C7D}" dt="2026-08-18T01:31:47.330" v="36" actId="2057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Dean Groom" userId="c0864208-1521-4c67-aa68-e1e773d853ea" providerId="ADAL" clId="{607B0EEA-5066-49DA-B272-2BC1E1409C7D}" dt="2026-08-18T01:32:02.939" v="40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Dean Groom" userId="c0864208-1521-4c67-aa68-e1e773d853ea" providerId="ADAL" clId="{607B0EEA-5066-49DA-B272-2BC1E1409C7D}" dt="2026-08-18T01:32:00.245" v="39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Dean Groom" userId="c0864208-1521-4c67-aa68-e1e773d853ea" providerId="ADAL" clId="{607B0EEA-5066-49DA-B272-2BC1E1409C7D}" dt="2026-08-18T01:33:01.342" v="49" actId="164"/>
          <ac:spMkLst>
            <pc:docMk/>
            <pc:sldMk cId="0" sldId="256"/>
            <ac:spMk id="8" creationId="{00000000-0000-0000-0000-000000000000}"/>
          </ac:spMkLst>
        </pc:spChg>
        <pc:spChg chg="mod">
          <ac:chgData name="Dean Groom" userId="c0864208-1521-4c67-aa68-e1e773d853ea" providerId="ADAL" clId="{607B0EEA-5066-49DA-B272-2BC1E1409C7D}" dt="2026-08-18T01:33:01.342" v="49" actId="164"/>
          <ac:spMkLst>
            <pc:docMk/>
            <pc:sldMk cId="0" sldId="256"/>
            <ac:spMk id="9" creationId="{00000000-0000-0000-0000-000000000000}"/>
          </ac:spMkLst>
        </pc:spChg>
        <pc:spChg chg="mod">
          <ac:chgData name="Dean Groom" userId="c0864208-1521-4c67-aa68-e1e773d853ea" providerId="ADAL" clId="{607B0EEA-5066-49DA-B272-2BC1E1409C7D}" dt="2026-08-18T01:33:01.342" v="49" actId="164"/>
          <ac:spMkLst>
            <pc:docMk/>
            <pc:sldMk cId="0" sldId="256"/>
            <ac:spMk id="10" creationId="{00000000-0000-0000-0000-000000000000}"/>
          </ac:spMkLst>
        </pc:spChg>
        <pc:spChg chg="mod">
          <ac:chgData name="Dean Groom" userId="c0864208-1521-4c67-aa68-e1e773d853ea" providerId="ADAL" clId="{607B0EEA-5066-49DA-B272-2BC1E1409C7D}" dt="2026-08-18T01:32:50.697" v="47" actId="164"/>
          <ac:spMkLst>
            <pc:docMk/>
            <pc:sldMk cId="0" sldId="256"/>
            <ac:spMk id="11" creationId="{00000000-0000-0000-0000-000000000000}"/>
          </ac:spMkLst>
        </pc:spChg>
        <pc:spChg chg="mod">
          <ac:chgData name="Dean Groom" userId="c0864208-1521-4c67-aa68-e1e773d853ea" providerId="ADAL" clId="{607B0EEA-5066-49DA-B272-2BC1E1409C7D}" dt="2026-08-18T01:32:50.697" v="47" actId="16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Dean Groom" userId="c0864208-1521-4c67-aa68-e1e773d853ea" providerId="ADAL" clId="{607B0EEA-5066-49DA-B272-2BC1E1409C7D}" dt="2026-08-18T01:32:50.697" v="47" actId="164"/>
          <ac:spMkLst>
            <pc:docMk/>
            <pc:sldMk cId="0" sldId="256"/>
            <ac:spMk id="13" creationId="{00000000-0000-0000-0000-000000000000}"/>
          </ac:spMkLst>
        </pc:spChg>
        <pc:spChg chg="del">
          <ac:chgData name="Dean Groom" userId="c0864208-1521-4c67-aa68-e1e773d853ea" providerId="ADAL" clId="{607B0EEA-5066-49DA-B272-2BC1E1409C7D}" dt="2026-08-18T01:32:18.611" v="44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Dean Groom" userId="c0864208-1521-4c67-aa68-e1e773d853ea" providerId="ADAL" clId="{607B0EEA-5066-49DA-B272-2BC1E1409C7D}" dt="2026-08-18T01:32:20.644" v="45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Dean Groom" userId="c0864208-1521-4c67-aa68-e1e773d853ea" providerId="ADAL" clId="{607B0EEA-5066-49DA-B272-2BC1E1409C7D}" dt="2026-08-18T01:32:22.083" v="46" actId="478"/>
          <ac:spMkLst>
            <pc:docMk/>
            <pc:sldMk cId="0" sldId="256"/>
            <ac:spMk id="16" creationId="{00000000-0000-0000-0000-000000000000}"/>
          </ac:spMkLst>
        </pc:spChg>
        <pc:grpChg chg="add mod">
          <ac:chgData name="Dean Groom" userId="c0864208-1521-4c67-aa68-e1e773d853ea" providerId="ADAL" clId="{607B0EEA-5066-49DA-B272-2BC1E1409C7D}" dt="2026-08-18T01:32:54.665" v="48" actId="1076"/>
          <ac:grpSpMkLst>
            <pc:docMk/>
            <pc:sldMk cId="0" sldId="256"/>
            <ac:grpSpMk id="19" creationId="{FB355E3A-5C97-6BCB-374C-EF7F81199F8D}"/>
          </ac:grpSpMkLst>
        </pc:grpChg>
        <pc:grpChg chg="add mod">
          <ac:chgData name="Dean Groom" userId="c0864208-1521-4c67-aa68-e1e773d853ea" providerId="ADAL" clId="{607B0EEA-5066-49DA-B272-2BC1E1409C7D}" dt="2026-08-18T01:33:05.172" v="50" actId="1076"/>
          <ac:grpSpMkLst>
            <pc:docMk/>
            <pc:sldMk cId="0" sldId="256"/>
            <ac:grpSpMk id="20" creationId="{22E88884-623C-C717-9118-956C3A800C6D}"/>
          </ac:grpSpMkLst>
        </pc:grpChg>
      </pc:sldChg>
      <pc:sldChg chg="delSp modSp mod">
        <pc:chgData name="Dean Groom" userId="c0864208-1521-4c67-aa68-e1e773d853ea" providerId="ADAL" clId="{607B0EEA-5066-49DA-B272-2BC1E1409C7D}" dt="2026-08-18T01:43:37.922" v="94" actId="20577"/>
        <pc:sldMkLst>
          <pc:docMk/>
          <pc:sldMk cId="0" sldId="258"/>
        </pc:sldMkLst>
        <pc:spChg chg="mod">
          <ac:chgData name="Dean Groom" userId="c0864208-1521-4c67-aa68-e1e773d853ea" providerId="ADAL" clId="{607B0EEA-5066-49DA-B272-2BC1E1409C7D}" dt="2026-08-18T01:42:09.677" v="84" actId="207"/>
          <ac:spMkLst>
            <pc:docMk/>
            <pc:sldMk cId="0" sldId="258"/>
            <ac:spMk id="8" creationId="{00000000-0000-0000-0000-000000000000}"/>
          </ac:spMkLst>
        </pc:spChg>
        <pc:spChg chg="del">
          <ac:chgData name="Dean Groom" userId="c0864208-1521-4c67-aa68-e1e773d853ea" providerId="ADAL" clId="{607B0EEA-5066-49DA-B272-2BC1E1409C7D}" dt="2026-08-18T01:42:23.668" v="85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Dean Groom" userId="c0864208-1521-4c67-aa68-e1e773d853ea" providerId="ADAL" clId="{607B0EEA-5066-49DA-B272-2BC1E1409C7D}" dt="2026-08-18T01:43:37.922" v="94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 del mod">
        <pc:chgData name="Dean Groom" userId="c0864208-1521-4c67-aa68-e1e773d853ea" providerId="ADAL" clId="{607B0EEA-5066-49DA-B272-2BC1E1409C7D}" dt="2026-08-18T01:41:08.912" v="78" actId="2696"/>
        <pc:sldMkLst>
          <pc:docMk/>
          <pc:sldMk cId="0" sldId="263"/>
        </pc:sldMkLst>
        <pc:spChg chg="mod">
          <ac:chgData name="Dean Groom" userId="c0864208-1521-4c67-aa68-e1e773d853ea" providerId="ADAL" clId="{607B0EEA-5066-49DA-B272-2BC1E1409C7D}" dt="2026-08-18T01:40:42.282" v="77" actId="20577"/>
          <ac:spMkLst>
            <pc:docMk/>
            <pc:sldMk cId="0" sldId="263"/>
            <ac:spMk id="6" creationId="{00000000-0000-0000-0000-000000000000}"/>
          </ac:spMkLst>
        </pc:spChg>
      </pc:sldChg>
      <pc:sldChg chg="delSp mod">
        <pc:chgData name="Dean Groom" userId="c0864208-1521-4c67-aa68-e1e773d853ea" providerId="ADAL" clId="{607B0EEA-5066-49DA-B272-2BC1E1409C7D}" dt="2026-08-18T01:41:30.217" v="80" actId="478"/>
        <pc:sldMkLst>
          <pc:docMk/>
          <pc:sldMk cId="0" sldId="265"/>
        </pc:sldMkLst>
        <pc:spChg chg="del">
          <ac:chgData name="Dean Groom" userId="c0864208-1521-4c67-aa68-e1e773d853ea" providerId="ADAL" clId="{607B0EEA-5066-49DA-B272-2BC1E1409C7D}" dt="2026-08-18T01:41:30.217" v="80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Dean Groom" userId="c0864208-1521-4c67-aa68-e1e773d853ea" providerId="ADAL" clId="{607B0EEA-5066-49DA-B272-2BC1E1409C7D}" dt="2026-08-18T01:41:26.420" v="79" actId="478"/>
          <ac:spMkLst>
            <pc:docMk/>
            <pc:sldMk cId="0" sldId="265"/>
            <ac:spMk id="2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777240"/>
            <a:ext cx="88900" cy="8890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FD1C5"/>
                </a:solidFill>
                <a:latin typeface="Segoe UI Semibold"/>
              </a:rPr>
              <a:t>DIGITAL TECHNOLOGIES · TEACHER PRESENTER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7371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AU" sz="4400" b="1" dirty="0">
                <a:solidFill>
                  <a:srgbClr val="E7EEF4"/>
                </a:solidFill>
                <a:latin typeface="Segoe UI"/>
              </a:rPr>
              <a:t>Assembly – Talking to CPUs</a:t>
            </a:r>
            <a:endParaRPr sz="4400" b="1" dirty="0">
              <a:solidFill>
                <a:srgbClr val="E7EEF4"/>
              </a:solidFill>
              <a:latin typeface="Segoe UI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E88884-623C-C717-9118-956C3A800C6D}"/>
              </a:ext>
            </a:extLst>
          </p:cNvPr>
          <p:cNvGrpSpPr/>
          <p:nvPr/>
        </p:nvGrpSpPr>
        <p:grpSpPr>
          <a:xfrm>
            <a:off x="1490472" y="2770632"/>
            <a:ext cx="5212080" cy="1188720"/>
            <a:chOff x="548640" y="2944368"/>
            <a:chExt cx="5212080" cy="1188720"/>
          </a:xfrm>
        </p:grpSpPr>
        <p:sp>
          <p:nvSpPr>
            <p:cNvPr id="8" name="Rounded Rectangle 7"/>
            <p:cNvSpPr/>
            <p:nvPr/>
          </p:nvSpPr>
          <p:spPr>
            <a:xfrm>
              <a:off x="548640" y="2944368"/>
              <a:ext cx="5212080" cy="1188720"/>
            </a:xfrm>
            <a:prstGeom prst="roundRect">
              <a:avLst>
                <a:gd name="adj" fmla="val 6000"/>
              </a:avLst>
            </a:prstGeom>
            <a:solidFill>
              <a:srgbClr val="121821"/>
            </a:solidFill>
            <a:ln w="12700">
              <a:solidFill>
                <a:srgbClr val="4FD1C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3090672"/>
              <a:ext cx="4663440" cy="2743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300" b="1">
                  <a:solidFill>
                    <a:srgbClr val="4FD1C5"/>
                  </a:solidFill>
                  <a:latin typeface="Segoe UI Semibold"/>
                </a:rPr>
                <a:t>THE BIG IDEA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" y="3456432"/>
              <a:ext cx="4663440" cy="5486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050" b="0" dirty="0">
                  <a:solidFill>
                    <a:srgbClr val="8496A6"/>
                  </a:solidFill>
                  <a:latin typeface="Consolas"/>
                </a:rPr>
                <a:t>Every computer, from a calculator to a phone, repeats the same Input → Process → Output cycle. This deck and tool make that cycle visible and clickable.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355E3A-5C97-6BCB-374C-EF7F81199F8D}"/>
              </a:ext>
            </a:extLst>
          </p:cNvPr>
          <p:cNvGrpSpPr/>
          <p:nvPr/>
        </p:nvGrpSpPr>
        <p:grpSpPr>
          <a:xfrm>
            <a:off x="4992624" y="4374307"/>
            <a:ext cx="5623560" cy="1188720"/>
            <a:chOff x="5989320" y="2944368"/>
            <a:chExt cx="5623560" cy="1188720"/>
          </a:xfrm>
        </p:grpSpPr>
        <p:sp>
          <p:nvSpPr>
            <p:cNvPr id="11" name="Rounded Rectangle 10"/>
            <p:cNvSpPr/>
            <p:nvPr/>
          </p:nvSpPr>
          <p:spPr>
            <a:xfrm>
              <a:off x="5989320" y="2944368"/>
              <a:ext cx="5623560" cy="1188720"/>
            </a:xfrm>
            <a:prstGeom prst="roundRect">
              <a:avLst>
                <a:gd name="adj" fmla="val 6000"/>
              </a:avLst>
            </a:prstGeom>
            <a:solidFill>
              <a:srgbClr val="121821"/>
            </a:solidFill>
            <a:ln w="12700">
              <a:solidFill>
                <a:srgbClr val="F2A6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63640" y="3090672"/>
              <a:ext cx="5120640" cy="2743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300" b="1">
                  <a:solidFill>
                    <a:srgbClr val="F2A65A"/>
                  </a:solidFill>
                  <a:latin typeface="Segoe UI Semibold"/>
                </a:rPr>
                <a:t>THE TOOL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63640" y="3456432"/>
              <a:ext cx="5120640" cy="54864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1050" b="0" dirty="0">
                  <a:solidFill>
                    <a:srgbClr val="8496A6"/>
                  </a:solidFill>
                  <a:latin typeface="Consolas"/>
                </a:rPr>
                <a:t>A 9-instruction fake chip with 16 memory cells — small enough to fit on one screen, built to be watched rather than just written.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DIGITAL TECHNOLOGIES · EDUCPU-8 — VISUAL ASSEMBLY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5288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20624"/>
            <a:ext cx="88900" cy="8890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FD1C5"/>
                </a:solidFill>
                <a:latin typeface="Segoe UI Semibold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92608"/>
            <a:ext cx="960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600" b="1">
                <a:solidFill>
                  <a:srgbClr val="4FD1C5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7EEF4"/>
                </a:solidFill>
                <a:latin typeface="Segoe UI"/>
              </a:rPr>
              <a:t>Every Computer Does the Same Three Things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496A6"/>
                </a:solidFill>
                <a:latin typeface="Segoe UI Semibold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4FD1C5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Every computer — a calculator, a phone, this browser tab — repeats the same cycle: Input, Process, Output.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4FD1C5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Input is data going in; Process is the system acting on it; Output is the result coming out.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4FD1C5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The three panels on the EduCPU-8 page are colour-coded to match: teal Input, violet Process, orange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496A6"/>
                </a:solidFill>
                <a:latin typeface="Segoe UI Semibold"/>
              </a:rPr>
              <a:t>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496A6"/>
                </a:solidFill>
                <a:latin typeface="Consolas"/>
              </a:rPr>
              <a:t>On the EduCPU-8 page, Input is the memory grid you edit before running, Process is the program plus the ACC / PC / Zero registers, and Output is the console that OUT and OUTC print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00200"/>
            <a:ext cx="4480560" cy="1920240"/>
          </a:xfrm>
          <a:prstGeom prst="roundRect">
            <a:avLst>
              <a:gd name="adj" fmla="val 6000"/>
            </a:avLst>
          </a:prstGeom>
          <a:solidFill>
            <a:srgbClr val="16241A"/>
          </a:solidFill>
          <a:ln w="12700">
            <a:solidFill>
              <a:srgbClr val="8F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8FD17A"/>
                </a:solidFill>
                <a:latin typeface="Segoe UI Semibold"/>
              </a:rPr>
              <a:t>🧪 TRY IT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03120"/>
            <a:ext cx="40233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7EEF4"/>
                </a:solidFill>
                <a:latin typeface="Consolas"/>
              </a:rPr>
              <a:t>Before showing the tool, ask students to name the Input / Process / Output steps in something ordinary — a vending machine, a microwave, an ATM.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70332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1E4A47"/>
          </a:solidFill>
          <a:ln w="127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38862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4FD1C5"/>
                </a:solidFill>
                <a:latin typeface="Segoe UI Semibold"/>
              </a:rPr>
              <a:t>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06240"/>
            <a:ext cx="40233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E7EEF4"/>
                </a:solidFill>
                <a:latin typeface="Consolas"/>
              </a:rPr>
              <a:t>If a calculator's Input is the buttons you press, what's its Output — and where does the Process actually happen?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DIGITAL TECHNOLOGIES · EDUCPU-8 — VISUAL ASSEMBLY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5288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98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20624"/>
            <a:ext cx="88900" cy="88900"/>
          </a:xfrm>
          <a:prstGeom prst="ellipse">
            <a:avLst/>
          </a:prstGeom>
          <a:solidFill>
            <a:srgbClr val="B98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98CF2"/>
                </a:solidFill>
                <a:latin typeface="Segoe UI Semibold"/>
              </a:rPr>
              <a:t>THE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92608"/>
            <a:ext cx="960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600" b="1">
                <a:solidFill>
                  <a:srgbClr val="B98CF2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7EEF4"/>
                </a:solidFill>
                <a:latin typeface="Segoe UI"/>
              </a:rPr>
              <a:t>A Tiny Made-Up Chip, Built to Be Watched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496A6"/>
                </a:solidFill>
                <a:latin typeface="Segoe UI Semibold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6400800" cy="2124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 dirty="0">
                <a:solidFill>
                  <a:srgbClr val="B98CF2"/>
                </a:solidFill>
                <a:latin typeface="Consolas"/>
              </a:rPr>
              <a:t>•  </a:t>
            </a:r>
            <a:r>
              <a:rPr sz="1350" b="1" dirty="0">
                <a:solidFill>
                  <a:srgbClr val="FF0000"/>
                </a:solidFill>
                <a:latin typeface="Consolas"/>
              </a:rPr>
              <a:t>ACC</a:t>
            </a:r>
            <a:r>
              <a:rPr sz="1350" b="0" dirty="0">
                <a:solidFill>
                  <a:srgbClr val="8496A6"/>
                </a:solidFill>
                <a:latin typeface="Consolas"/>
              </a:rPr>
              <a:t> is the only general register — every value passes through it, so "processing" is always visible in one place.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 dirty="0">
                <a:solidFill>
                  <a:srgbClr val="B98CF2"/>
                </a:solidFill>
                <a:latin typeface="Consolas"/>
              </a:rPr>
              <a:t>•  </a:t>
            </a:r>
            <a:r>
              <a:rPr sz="1350" b="0" dirty="0">
                <a:solidFill>
                  <a:srgbClr val="FF0000"/>
                </a:solidFill>
                <a:latin typeface="Consolas"/>
              </a:rPr>
              <a:t>16 memory cells </a:t>
            </a:r>
            <a:r>
              <a:rPr sz="1350" b="0" dirty="0">
                <a:solidFill>
                  <a:srgbClr val="8496A6"/>
                </a:solidFill>
                <a:latin typeface="Consolas"/>
              </a:rPr>
              <a:t>(addresses 0–15) hold data; the program is a separate list of instructions, so there’s no self-modifying code to explain.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 dirty="0">
                <a:solidFill>
                  <a:srgbClr val="B98CF2"/>
                </a:solidFill>
                <a:latin typeface="Consolas"/>
              </a:rPr>
              <a:t>•  </a:t>
            </a:r>
            <a:r>
              <a:rPr sz="1350" b="0" dirty="0">
                <a:solidFill>
                  <a:srgbClr val="FF0000"/>
                </a:solidFill>
                <a:latin typeface="Consolas"/>
              </a:rPr>
              <a:t>PC</a:t>
            </a:r>
            <a:r>
              <a:rPr sz="1350" b="0" dirty="0">
                <a:solidFill>
                  <a:srgbClr val="8496A6"/>
                </a:solidFill>
                <a:latin typeface="Consolas"/>
              </a:rPr>
              <a:t> always shows which line runs next; the Zero flag records whether the last LOAD/ADD/SUB produced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25112"/>
            <a:ext cx="6400800" cy="781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dirty="0">
                <a:solidFill>
                  <a:srgbClr val="8496A6"/>
                </a:solidFill>
                <a:latin typeface="Consolas"/>
              </a:rPr>
              <a:t>Nine instructions cover everything: </a:t>
            </a:r>
            <a:endParaRPr lang="en-AU" sz="1250" b="0" dirty="0">
              <a:solidFill>
                <a:srgbClr val="8496A6"/>
              </a:solidFill>
              <a:latin typeface="Consolas"/>
            </a:endParaRPr>
          </a:p>
          <a:p>
            <a:pPr algn="l">
              <a:lnSpc>
                <a:spcPct val="140000"/>
              </a:lnSpc>
            </a:pPr>
            <a:r>
              <a:rPr sz="1250" b="0" dirty="0">
                <a:solidFill>
                  <a:srgbClr val="8496A6"/>
                </a:solidFill>
                <a:latin typeface="Consolas"/>
              </a:rPr>
              <a:t>moving data </a:t>
            </a:r>
            <a:r>
              <a:rPr sz="1250" b="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(LOAD/STORE), </a:t>
            </a:r>
            <a:r>
              <a:rPr sz="1250" b="0" dirty="0">
                <a:solidFill>
                  <a:srgbClr val="8496A6"/>
                </a:solidFill>
                <a:latin typeface="Consolas"/>
              </a:rPr>
              <a:t>arithmetic </a:t>
            </a:r>
            <a:r>
              <a:rPr sz="1250" b="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(ADD/SUB), </a:t>
            </a:r>
            <a:r>
              <a:rPr sz="1250" b="0" dirty="0">
                <a:solidFill>
                  <a:srgbClr val="8496A6"/>
                </a:solidFill>
                <a:latin typeface="Consolas"/>
              </a:rPr>
              <a:t>control flow </a:t>
            </a:r>
            <a:r>
              <a:rPr sz="1250" b="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(JMP/JZ), </a:t>
            </a:r>
            <a:r>
              <a:rPr sz="1250" b="0" dirty="0">
                <a:solidFill>
                  <a:srgbClr val="8496A6"/>
                </a:solidFill>
                <a:latin typeface="Consolas"/>
              </a:rPr>
              <a:t>output </a:t>
            </a:r>
            <a:r>
              <a:rPr sz="1250" b="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(OUT/OUTC), </a:t>
            </a:r>
            <a:r>
              <a:rPr sz="1250" b="0" dirty="0">
                <a:solidFill>
                  <a:srgbClr val="8496A6"/>
                </a:solidFill>
                <a:latin typeface="Consolas"/>
              </a:rPr>
              <a:t>and stopping (</a:t>
            </a:r>
            <a:r>
              <a:rPr sz="1250" b="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HALT</a:t>
            </a:r>
            <a:r>
              <a:rPr sz="1250" b="0" dirty="0">
                <a:solidFill>
                  <a:srgbClr val="8496A6"/>
                </a:solidFill>
                <a:latin typeface="Consolas"/>
              </a:rPr>
              <a:t>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00200"/>
            <a:ext cx="4480560" cy="1920240"/>
          </a:xfrm>
          <a:prstGeom prst="roundRect">
            <a:avLst>
              <a:gd name="adj" fmla="val 6000"/>
            </a:avLst>
          </a:prstGeom>
          <a:solidFill>
            <a:srgbClr val="16241A"/>
          </a:solidFill>
          <a:ln w="12700">
            <a:solidFill>
              <a:srgbClr val="8F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8FD17A"/>
                </a:solidFill>
                <a:latin typeface="Segoe UI Semibold"/>
              </a:rPr>
              <a:t>🧪 TRY IT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03120"/>
            <a:ext cx="40233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7EEF4"/>
                </a:solidFill>
                <a:latin typeface="Consolas"/>
              </a:rPr>
              <a:t>Open the Theory &amp; Help slide-out with students on screen — it has the same instruction table as the next slide, so they know where to find it again.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70332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332048"/>
          </a:solidFill>
          <a:ln w="12700">
            <a:solidFill>
              <a:srgbClr val="B98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38862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B98CF2"/>
                </a:solidFill>
                <a:latin typeface="Segoe UI Semibold"/>
              </a:rPr>
              <a:t>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06240"/>
            <a:ext cx="40233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E7EEF4"/>
                </a:solidFill>
                <a:latin typeface="Consolas"/>
              </a:rPr>
              <a:t>Why does giving the chip only one general register (ACC) make it easier to follow what’s happening, instead of harder?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DIGITAL TECHNOLOGIES · EDUCPU-8 — VISUAL ASSEMBLY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5288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20624"/>
            <a:ext cx="88900" cy="88900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2A65A"/>
                </a:solidFill>
                <a:latin typeface="Segoe UI Semibold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92608"/>
            <a:ext cx="960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600" b="1">
                <a:solidFill>
                  <a:srgbClr val="F2A65A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7EEF4"/>
                </a:solidFill>
                <a:latin typeface="Segoe UI"/>
              </a:rPr>
              <a:t>Instruction Set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496A6"/>
                </a:solidFill>
                <a:latin typeface="Consolas"/>
              </a:rPr>
              <a:t>Nine instructions. Every EduCPU-8 program is built from these, and nothing else.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011680"/>
          <a:ext cx="11155680" cy="4337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A65A"/>
                          </a:solidFill>
                          <a:latin typeface="Segoe UI Semibold"/>
                        </a:rPr>
                        <a:t>OP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A65A"/>
                          </a:solidFill>
                          <a:latin typeface="Segoe UI Semibold"/>
                        </a:rPr>
                        <a:t>OPERAND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A65A"/>
                          </a:solidFill>
                          <a:latin typeface="Segoe UI Semibold"/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LOAD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addr or #val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ACC ← memory[addr], or ACC ← val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STORE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addr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memory[addr] ← ACC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ADD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addr or #val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ACC ← ACC + (…)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SUB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addr or #val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ACC ← ACC − (…)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JMP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line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jump to that line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JZ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line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jump there only if ACC is 0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OUT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print ACC as a number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OUTC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print ACC as a character — #'H' is shorthand for a character's code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HALT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stop the program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DIGITAL TECHNOLOGIES · EDUCPU-8 — VISUAL ASSEMBLY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5288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20624"/>
            <a:ext cx="88900" cy="88900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2A65A"/>
                </a:solidFill>
                <a:latin typeface="Segoe UI Semibold"/>
              </a:rPr>
              <a:t>WALKTHROUGH ·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92608"/>
            <a:ext cx="960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600" b="1">
                <a:solidFill>
                  <a:srgbClr val="F2A65A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7EEF4"/>
                </a:solidFill>
                <a:latin typeface="Segoe UI"/>
              </a:rPr>
              <a:t>Hello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496A6"/>
                </a:solidFill>
                <a:latin typeface="Segoe UI Semibold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F2A65A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No loop needed — every character is printed by its own LOAD + OUTC pair.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F2A65A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#'H' is shorthand for a character's ASCII code; LOAD #'H' then OUTC prints “H”.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F2A65A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This program has no memory or Input step at all — it’s Output in isolation.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496A6"/>
                </a:solidFill>
                <a:latin typeface="Segoe UI Semibold"/>
              </a:rPr>
              <a:t>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496A6"/>
                </a:solidFill>
                <a:latin typeface="Consolas"/>
              </a:rPr>
              <a:t>LOAD #'H' → OUTC → LOAD #'i' → OUTC → LOAD #'!' → OUTC → HALT prints Hi! to the console, one character at a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00200"/>
            <a:ext cx="4480560" cy="1920240"/>
          </a:xfrm>
          <a:prstGeom prst="roundRect">
            <a:avLst>
              <a:gd name="adj" fmla="val 6000"/>
            </a:avLst>
          </a:prstGeom>
          <a:solidFill>
            <a:srgbClr val="16241A"/>
          </a:solidFill>
          <a:ln w="12700">
            <a:solidFill>
              <a:srgbClr val="8F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8FD17A"/>
                </a:solidFill>
                <a:latin typeface="Segoe UI Semibold"/>
              </a:rPr>
              <a:t>🧪 TRY IT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03120"/>
            <a:ext cx="40233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7EEF4"/>
                </a:solidFill>
                <a:latin typeface="Consolas"/>
              </a:rPr>
              <a:t>Change the characters (or add more LOAD/OUTC pairs) to print a student’s own name instead of “Hi!”.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70332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4A331B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38862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2A65A"/>
                </a:solidFill>
                <a:latin typeface="Segoe UI Semibold"/>
              </a:rPr>
              <a:t>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06240"/>
            <a:ext cx="40233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E7EEF4"/>
                </a:solidFill>
                <a:latin typeface="Consolas"/>
              </a:rPr>
              <a:t>Why does OUTC need a character's numeric code, and where does #'H' actually come from?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DIGITAL TECHNOLOGIES · EDUCPU-8 — VISUAL ASSEMBLY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5288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98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20624"/>
            <a:ext cx="88900" cy="88900"/>
          </a:xfrm>
          <a:prstGeom prst="ellipse">
            <a:avLst/>
          </a:prstGeom>
          <a:solidFill>
            <a:srgbClr val="B98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98CF2"/>
                </a:solidFill>
                <a:latin typeface="Segoe UI Semibold"/>
              </a:rPr>
              <a:t>WALKTHROUGH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92608"/>
            <a:ext cx="960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600" b="1">
                <a:solidFill>
                  <a:srgbClr val="B98CF2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7EEF4"/>
                </a:solidFill>
                <a:latin typeface="Segoe UI"/>
              </a:rPr>
              <a:t>Countdown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496A6"/>
                </a:solidFill>
                <a:latin typeface="Segoe UI Semibold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B98CF2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JZ jumps only when the Zero flag is set — the loop keeps going until the counter hits 0.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B98CF2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SUB #1 shrinks the counter by exactly one each pass through the loop.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B98CF2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JMP unconditionally sends execution back to the top of the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496A6"/>
                </a:solidFill>
                <a:latin typeface="Segoe UI Semibold"/>
              </a:rPr>
              <a:t>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496A6"/>
                </a:solidFill>
                <a:latin typeface="Consolas"/>
              </a:rPr>
              <a:t>Memory cell 0 starts as the counter. Each pass prints its value, subtracts 1, stores it back, then jumps back — until JZ sends it straight to HALT.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00200"/>
            <a:ext cx="4480560" cy="1920240"/>
          </a:xfrm>
          <a:prstGeom prst="roundRect">
            <a:avLst>
              <a:gd name="adj" fmla="val 6000"/>
            </a:avLst>
          </a:prstGeom>
          <a:solidFill>
            <a:srgbClr val="16241A"/>
          </a:solidFill>
          <a:ln w="12700">
            <a:solidFill>
              <a:srgbClr val="8F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8FD17A"/>
                </a:solidFill>
                <a:latin typeface="Segoe UI Semibold"/>
              </a:rPr>
              <a:t>🧪 TRY IT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03120"/>
            <a:ext cx="40233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7EEF4"/>
                </a:solidFill>
                <a:latin typeface="Consolas"/>
              </a:rPr>
              <a:t>Click memory cell 0 before running and change the starting count — try 1, then try a bigger number and switch to Run instead of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70332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332048"/>
          </a:solidFill>
          <a:ln w="12700">
            <a:solidFill>
              <a:srgbClr val="B98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38862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B98CF2"/>
                </a:solidFill>
                <a:latin typeface="Segoe UI Semibold"/>
              </a:rPr>
              <a:t>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06240"/>
            <a:ext cx="40233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E7EEF4"/>
                </a:solidFill>
                <a:latin typeface="Consolas"/>
              </a:rPr>
              <a:t>What would happen if the JZ line were deleted — would the program ever stop, and why?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DIGITAL TECHNOLOGIES · EDUCPU-8 — VISUAL ASSEMBLY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5288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20624"/>
            <a:ext cx="88900" cy="88900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FD1C5"/>
                </a:solidFill>
                <a:latin typeface="Segoe UI Semibold"/>
              </a:rPr>
              <a:t>WALKTHROUGH ·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92608"/>
            <a:ext cx="960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600" b="1">
                <a:solidFill>
                  <a:srgbClr val="4FD1C5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7EEF4"/>
                </a:solidFill>
                <a:latin typeface="Segoe UI"/>
              </a:rPr>
              <a:t>Add Two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496A6"/>
                </a:solidFill>
                <a:latin typeface="Segoe UI Semibold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6400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4FD1C5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Memory cells 0 and 1 are the Input — editable right after the example loads, before you Step or Run.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4FD1C5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LOAD then ADD combines two values through ACC — the same "everything passes through one place" idea as the chip itself.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4FD1C5"/>
                </a:solidFill>
                <a:latin typeface="Consolas"/>
              </a:rPr>
              <a:t>•  </a:t>
            </a:r>
            <a:r>
              <a:rPr sz="1350" b="0">
                <a:solidFill>
                  <a:srgbClr val="8496A6"/>
                </a:solidFill>
                <a:latin typeface="Consolas"/>
              </a:rPr>
              <a:t>STORE writes the result back to memory before OUT prints it — Process finishing before Output begins.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496A6"/>
                </a:solidFill>
                <a:latin typeface="Segoe UI Semibold"/>
              </a:rPr>
              <a:t>THE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15968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496A6"/>
                </a:solidFill>
                <a:latin typeface="Consolas"/>
              </a:rPr>
              <a:t>LOAD 0 → ADD 1 → STORE 2 → OUT → HALT adds whatever is in cells 0 and 1, saves the sum in cell 2, and prints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00200"/>
            <a:ext cx="4480560" cy="1920240"/>
          </a:xfrm>
          <a:prstGeom prst="roundRect">
            <a:avLst>
              <a:gd name="adj" fmla="val 6000"/>
            </a:avLst>
          </a:prstGeom>
          <a:solidFill>
            <a:srgbClr val="16241A"/>
          </a:solidFill>
          <a:ln w="12700">
            <a:solidFill>
              <a:srgbClr val="8F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8FD17A"/>
                </a:solidFill>
                <a:latin typeface="Segoe UI Semibold"/>
              </a:rPr>
              <a:t>🧪 TRY IT YOURSELF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03120"/>
            <a:ext cx="402336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7EEF4"/>
                </a:solidFill>
                <a:latin typeface="Consolas"/>
              </a:rPr>
              <a:t>Edit memory cells 0 and 1 to two different numbers before running, and predict the printed sum before clicking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70332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1E4A47"/>
          </a:solidFill>
          <a:ln w="127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38862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4FD1C5"/>
                </a:solidFill>
                <a:latin typeface="Segoe UI Semibold"/>
              </a:rPr>
              <a:t>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06240"/>
            <a:ext cx="402336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E7EEF4"/>
                </a:solidFill>
                <a:latin typeface="Consolas"/>
              </a:rPr>
              <a:t>Which single memory cell holds this program’s result — and how is that different to what OUT actually prints?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DIGITAL TECHNOLOGIES · EDUCPU-8 — VISUAL ASSEMBLY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5288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98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420624"/>
            <a:ext cx="88900" cy="88900"/>
          </a:xfrm>
          <a:prstGeom prst="ellipse">
            <a:avLst/>
          </a:prstGeom>
          <a:solidFill>
            <a:srgbClr val="B98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B98CF2"/>
                </a:solidFill>
                <a:latin typeface="Segoe UI Semibold"/>
              </a:rPr>
              <a:t>ON YOUR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92608"/>
            <a:ext cx="960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600" b="1">
                <a:solidFill>
                  <a:srgbClr val="B98CF2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7EEF4"/>
                </a:solidFill>
                <a:latin typeface="Segoe UI"/>
              </a:rPr>
              <a:t>10 Challenges 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496A6"/>
                </a:solidFill>
                <a:latin typeface="Consolas"/>
              </a:rPr>
              <a:t>Each one builds on a worked example from this deck — same nine instructions, new problem.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011680"/>
          <a:ext cx="11155680" cy="4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45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98CF2"/>
                          </a:solidFill>
                          <a:latin typeface="Segoe UI Semibold"/>
                        </a:rPr>
                        <a:t>#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98CF2"/>
                          </a:solidFill>
                          <a:latin typeface="Segoe UI Semibold"/>
                        </a:rPr>
                        <a:t>CHALLENGE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98CF2"/>
                          </a:solidFill>
                          <a:latin typeface="Segoe UI Semibold"/>
                        </a:rPr>
                        <a:t>LEVEL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98CF2"/>
                          </a:solidFill>
                          <a:latin typeface="Segoe UI Semibold"/>
                        </a:rPr>
                        <a:t>SKILLS</a:t>
                      </a:r>
                    </a:p>
                  </a:txBody>
                  <a:tcPr anchor="ctr">
                    <a:solidFill>
                      <a:srgbClr val="1A2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Print your initials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Segoe UI"/>
                        </a:rPr>
                        <a:t>Warm-up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LOAD #'…', OUTC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Triple a number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Segoe UI"/>
                        </a:rPr>
                        <a:t>Warm-up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LOAD, ADD, ADD, STORE, OUT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Is it zero?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Segoe UI"/>
                        </a:rPr>
                        <a:t>Warm-up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LOAD, JZ, branch to YES/NO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Count up to a target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98CF2"/>
                          </a:solidFill>
                          <a:latin typeface="Segoe UI"/>
                        </a:rPr>
                        <a:t>Core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loop, ADD #1, JZ to stop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Sum from 1 to N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98CF2"/>
                          </a:solidFill>
                          <a:latin typeface="Segoe UI"/>
                        </a:rPr>
                        <a:t>Core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loop + a running total in memory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Halve a number by counting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98CF2"/>
                          </a:solidFill>
                          <a:latin typeface="Segoe UI"/>
                        </a:rPr>
                        <a:t>Core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repeated SUB, count how many times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Are three numbers all equal?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98CF2"/>
                          </a:solidFill>
                          <a:latin typeface="Segoe UI"/>
                        </a:rPr>
                        <a:t>Core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two chained comparisons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Countdown, then shout GO!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98CF2"/>
                          </a:solidFill>
                          <a:latin typeface="Segoe UI"/>
                        </a:rPr>
                        <a:t>Core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a loop followed by fixed text output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4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Predict the overflow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A65A"/>
                          </a:solidFill>
                          <a:latin typeface="Segoe UI"/>
                        </a:rPr>
                        <a:t>Stretch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hand-calculate first, then Step to check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4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D1C5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Design your own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A65A"/>
                          </a:solidFill>
                          <a:latin typeface="Segoe UI"/>
                        </a:rPr>
                        <a:t>Stretch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8496A6"/>
                          </a:solidFill>
                          <a:latin typeface="Segoe UI"/>
                        </a:rPr>
                        <a:t>combine instructions nobody told you to combine</a:t>
                      </a:r>
                    </a:p>
                  </a:txBody>
                  <a:tcPr marT="36576" marB="36576" anchor="ctr">
                    <a:solidFill>
                      <a:srgbClr val="12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DIGITAL TECHNOLOGIES · EDUCPU-8 — VISUAL ASSEMBLY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5288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98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777240"/>
            <a:ext cx="88900" cy="88900"/>
          </a:xfrm>
          <a:prstGeom prst="ellipse">
            <a:avLst/>
          </a:prstGeom>
          <a:solidFill>
            <a:srgbClr val="B98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B98CF2"/>
                </a:solidFill>
                <a:latin typeface="Segoe UI Semibold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7EEF4"/>
                </a:solidFill>
                <a:latin typeface="Segoe UI"/>
              </a:rPr>
              <a:t>Input. Process. Output. Every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608705" cy="2560320"/>
          </a:xfrm>
          <a:prstGeom prst="roundRect">
            <a:avLst>
              <a:gd name="adj" fmla="val 6000"/>
            </a:avLst>
          </a:prstGeom>
          <a:solidFill>
            <a:srgbClr val="1E4A47"/>
          </a:solidFill>
          <a:ln w="127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15150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FD1C5"/>
                </a:solidFill>
                <a:latin typeface="Segoe UI Semibold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315150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E7EEF4"/>
                </a:solidFill>
                <a:latin typeface="Consolas"/>
              </a:rPr>
              <a:t>Data goes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315150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4636F"/>
                </a:solidFill>
                <a:latin typeface="Consolas"/>
              </a:rPr>
              <a:t>EXAMPLE: </a:t>
            </a:r>
            <a:r>
              <a:rPr sz="1050" b="0">
                <a:solidFill>
                  <a:srgbClr val="8496A6"/>
                </a:solidFill>
                <a:latin typeface="Consolas"/>
              </a:rPr>
              <a:t>A keyboard, a barcode scanner, a temperature sensor.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315150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4636F"/>
                </a:solidFill>
                <a:latin typeface="Consolas"/>
              </a:rPr>
              <a:t>IN EDUCPU-8: </a:t>
            </a:r>
            <a:r>
              <a:rPr sz="1050" b="0">
                <a:solidFill>
                  <a:srgbClr val="8496A6"/>
                </a:solidFill>
                <a:latin typeface="Consolas"/>
              </a:rPr>
              <a:t>The 16 memory cells you set before running.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6420" y="2743200"/>
            <a:ext cx="3608705" cy="2560320"/>
          </a:xfrm>
          <a:prstGeom prst="roundRect">
            <a:avLst>
              <a:gd name="adj" fmla="val 6000"/>
            </a:avLst>
          </a:prstGeom>
          <a:solidFill>
            <a:srgbClr val="332048"/>
          </a:solidFill>
          <a:ln w="12700">
            <a:solidFill>
              <a:srgbClr val="B98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5020" y="2926080"/>
            <a:ext cx="315150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B98CF2"/>
                </a:solidFill>
                <a:latin typeface="Segoe UI Semibold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5020" y="3337560"/>
            <a:ext cx="315150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E7EEF4"/>
                </a:solidFill>
                <a:latin typeface="Consolas"/>
              </a:rPr>
              <a:t>The system acts on the data, one instruction at a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5020" y="3931920"/>
            <a:ext cx="315150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4636F"/>
                </a:solidFill>
                <a:latin typeface="Consolas"/>
              </a:rPr>
              <a:t>EXAMPLE: </a:t>
            </a:r>
            <a:r>
              <a:rPr sz="1050" b="0">
                <a:solidFill>
                  <a:srgbClr val="8496A6"/>
                </a:solidFill>
                <a:latin typeface="Consolas"/>
              </a:rPr>
              <a:t>A calculator adding two numbers; a traffic light's timer.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5020" y="4663440"/>
            <a:ext cx="315150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4636F"/>
                </a:solidFill>
                <a:latin typeface="Consolas"/>
              </a:rPr>
              <a:t>IN EDUCPU-8: </a:t>
            </a:r>
            <a:r>
              <a:rPr sz="1050" b="0">
                <a:solidFill>
                  <a:srgbClr val="8496A6"/>
                </a:solidFill>
                <a:latin typeface="Consolas"/>
              </a:rPr>
              <a:t>The program, using ACC as a scratchpad.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4200" y="2743200"/>
            <a:ext cx="3608705" cy="2560320"/>
          </a:xfrm>
          <a:prstGeom prst="roundRect">
            <a:avLst>
              <a:gd name="adj" fmla="val 6000"/>
            </a:avLst>
          </a:prstGeom>
          <a:solidFill>
            <a:srgbClr val="4A331B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2800" y="2926080"/>
            <a:ext cx="315150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2A65A"/>
                </a:solidFill>
                <a:latin typeface="Segoe UI Semibold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800" y="3337560"/>
            <a:ext cx="315150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E7EEF4"/>
                </a:solidFill>
                <a:latin typeface="Consolas"/>
              </a:rPr>
              <a:t>A result comes 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800" y="3931920"/>
            <a:ext cx="315150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4636F"/>
                </a:solidFill>
                <a:latin typeface="Consolas"/>
              </a:rPr>
              <a:t>EXAMPLE: </a:t>
            </a:r>
            <a:r>
              <a:rPr sz="1050" b="0">
                <a:solidFill>
                  <a:srgbClr val="8496A6"/>
                </a:solidFill>
                <a:latin typeface="Consolas"/>
              </a:rPr>
              <a:t>A receipt printing; a speaker playing a sound.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800" y="4663440"/>
            <a:ext cx="315150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54636F"/>
                </a:solidFill>
                <a:latin typeface="Consolas"/>
              </a:rPr>
              <a:t>IN EDUCPU-8: </a:t>
            </a:r>
            <a:r>
              <a:rPr sz="1050" b="0">
                <a:solidFill>
                  <a:srgbClr val="8496A6"/>
                </a:solidFill>
                <a:latin typeface="Consolas"/>
              </a:rPr>
              <a:t>Anything OUT or OUTC prints to the console.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DIGITAL TECHNOLOGIES · EDUCPU-8 — VISUAL ASSEMBLY SIMULATOR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1455" y="65288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636F"/>
                </a:solidFill>
                <a:latin typeface="Consolas"/>
              </a:rPr>
              <a:t>Wrap-up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603dfd7-d93a-4381-a340-2995d8282205}" enabled="1" method="Standard" siteId="{05a0e69a-418a-47c1-9c25-9387261bf99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1351</Words>
  <Application>Microsoft Office PowerPoint</Application>
  <PresentationFormat>Widescreen</PresentationFormat>
  <Paragraphs>185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Dean Groom</cp:lastModifiedBy>
  <cp:revision>1</cp:revision>
  <dcterms:created xsi:type="dcterms:W3CDTF">2013-01-27T09:14:16Z</dcterms:created>
  <dcterms:modified xsi:type="dcterms:W3CDTF">2026-08-18T01:43:39Z</dcterms:modified>
  <cp:category/>
</cp:coreProperties>
</file>