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777240"/>
            <a:ext cx="88900" cy="88900"/>
          </a:xfrm>
          <a:prstGeom prst="ellipse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4FD1C5"/>
                </a:solidFill>
                <a:latin typeface="Segoe UI Semibold"/>
              </a:rPr>
              <a:t>DIGITAL TECHNOLOGIES · TEACHER PRESENTER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E7EEF4"/>
                </a:solidFill>
                <a:latin typeface="Segoe UI"/>
              </a:rPr>
              <a:t>EduCPU-8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4FD1C5"/>
                </a:solidFill>
                <a:latin typeface="Segoe UI"/>
              </a:rPr>
              <a:t>A Visual Model of How a Computer Thinks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8496A6"/>
                </a:solidFill>
                <a:latin typeface="Consolas"/>
              </a:rPr>
              <a:t>A made-up teaching chip that runs entirely in the browser. Students click Step and watch Input become Process become Output, one instruction at a 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5212080" cy="1188720"/>
          </a:xfrm>
          <a:prstGeom prst="roundRect">
            <a:avLst>
              <a:gd name="adj" fmla="val 6000"/>
            </a:avLst>
          </a:prstGeom>
          <a:solidFill>
            <a:srgbClr val="121821"/>
          </a:solidFill>
          <a:ln w="12700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803904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4FD1C5"/>
                </a:solidFill>
                <a:latin typeface="Segoe UI Semibold"/>
              </a:rPr>
              <a:t>THE BIG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696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496A6"/>
                </a:solidFill>
                <a:latin typeface="Consolas"/>
              </a:rPr>
              <a:t>Every computer, from a calculator to a phone, repeats the same Input → Process → Output cycle. This deck and tool make that cycle visible and clickable.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3657600"/>
            <a:ext cx="5623560" cy="1188720"/>
          </a:xfrm>
          <a:prstGeom prst="roundRect">
            <a:avLst>
              <a:gd name="adj" fmla="val 6000"/>
            </a:avLst>
          </a:prstGeom>
          <a:solidFill>
            <a:srgbClr val="121821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3803904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2A65A"/>
                </a:solidFill>
                <a:latin typeface="Segoe UI Semibold"/>
              </a:rPr>
              <a:t>THE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16966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496A6"/>
                </a:solidFill>
                <a:latin typeface="Consolas"/>
              </a:rPr>
              <a:t>A 9-instruction fake chip with 16 memory cells — small enough to fit on one screen, built to be watched rather than just written.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074920"/>
            <a:ext cx="11064240" cy="1051560"/>
          </a:xfrm>
          <a:prstGeom prst="roundRect">
            <a:avLst>
              <a:gd name="adj" fmla="val 6000"/>
            </a:avLst>
          </a:prstGeom>
          <a:solidFill>
            <a:srgbClr val="1A222C"/>
          </a:solidFill>
          <a:ln w="12700">
            <a:solidFill>
              <a:srgbClr val="2632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23951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54636F"/>
                </a:solidFill>
                <a:latin typeface="Segoe UI Semibold"/>
              </a:rPr>
              <a:t>RUNS ENTIRELY IN THE BROWSER — NO INSTALL, NO ACCOUNTS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496A6"/>
                </a:solidFill>
                <a:latin typeface="Consolas"/>
              </a:rPr>
              <a:t>Open index.html and go. Three ready-made example programs are one click away; the Theory &amp; Help panel (top right of the tool) carries this same reference.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4636F"/>
                </a:solidFill>
                <a:latin typeface="Consolas"/>
              </a:rPr>
              <a:t>DIGITAL TECHNOLOGIES · EDUCPU-8 — VISUAL ASSEMBLY SIMULATOR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71455" y="6528816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4636F"/>
                </a:solidFill>
                <a:latin typeface="Consolas"/>
              </a:rPr>
              <a:t>Title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20624"/>
            <a:ext cx="88900" cy="88900"/>
          </a:xfrm>
          <a:prstGeom prst="ellipse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4FD1C5"/>
                </a:solidFill>
                <a:latin typeface="Segoe UI Semibold"/>
              </a:rPr>
              <a:t>THE BIG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92608"/>
            <a:ext cx="960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2600" b="1">
                <a:solidFill>
                  <a:srgbClr val="4FD1C5"/>
                </a:solidFill>
                <a:latin typeface="Segoe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556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E7EEF4"/>
                </a:solidFill>
                <a:latin typeface="Segoe UI"/>
              </a:rPr>
              <a:t>Every Computer Does the Same Three Things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496A6"/>
                </a:solidFill>
                <a:latin typeface="Segoe UI Semibold"/>
              </a:rPr>
              <a:t>THE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64008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350" b="1">
                <a:solidFill>
                  <a:srgbClr val="4FD1C5"/>
                </a:solidFill>
                <a:latin typeface="Consolas"/>
              </a:rPr>
              <a:t>•  </a:t>
            </a:r>
            <a:r>
              <a:rPr sz="1350" b="0">
                <a:solidFill>
                  <a:srgbClr val="8496A6"/>
                </a:solidFill>
                <a:latin typeface="Consolas"/>
              </a:rPr>
              <a:t>Every computer — a calculator, a phone, this browser tab — repeats the same cycle: Input, Process, Output.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350" b="1">
                <a:solidFill>
                  <a:srgbClr val="4FD1C5"/>
                </a:solidFill>
                <a:latin typeface="Consolas"/>
              </a:rPr>
              <a:t>•  </a:t>
            </a:r>
            <a:r>
              <a:rPr sz="1350" b="0">
                <a:solidFill>
                  <a:srgbClr val="8496A6"/>
                </a:solidFill>
                <a:latin typeface="Consolas"/>
              </a:rPr>
              <a:t>Input is data going in; Process is the system acting on it; Output is the result coming out.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350" b="1">
                <a:solidFill>
                  <a:srgbClr val="4FD1C5"/>
                </a:solidFill>
                <a:latin typeface="Consolas"/>
              </a:rPr>
              <a:t>•  </a:t>
            </a:r>
            <a:r>
              <a:rPr sz="1350" b="0">
                <a:solidFill>
                  <a:srgbClr val="8496A6"/>
                </a:solidFill>
                <a:latin typeface="Consolas"/>
              </a:rPr>
              <a:t>The three panels on the EduCPU-8 page are colour-coded to match: teal Input, violet Process, orange Output.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776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496A6"/>
                </a:solidFill>
                <a:latin typeface="Segoe UI Semibold"/>
              </a:rPr>
              <a:t>THE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15968"/>
            <a:ext cx="6400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8496A6"/>
                </a:solidFill>
                <a:latin typeface="Consolas"/>
              </a:rPr>
              <a:t>On the EduCPU-8 page, Input is the memory grid you edit before running, Process is the program plus the ACC / PC / Zero registers, and Output is the console that OUT and OUTC print 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1600200"/>
            <a:ext cx="4480560" cy="1920240"/>
          </a:xfrm>
          <a:prstGeom prst="roundRect">
            <a:avLst>
              <a:gd name="adj" fmla="val 6000"/>
            </a:avLst>
          </a:prstGeom>
          <a:solidFill>
            <a:srgbClr val="16241A"/>
          </a:solidFill>
          <a:ln w="12700">
            <a:solidFill>
              <a:srgbClr val="8FD1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8308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8FD17A"/>
                </a:solidFill>
                <a:latin typeface="Segoe UI Semibold"/>
              </a:rPr>
              <a:t>🧪 TRY IT YOURSELF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103120"/>
            <a:ext cx="402336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E7EEF4"/>
                </a:solidFill>
                <a:latin typeface="Consolas"/>
              </a:rPr>
              <a:t>Before showing the tool, ask students to name the Input / Process / Output steps in something ordinary — a vending machine, a microwave, an ATM.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78040" y="3703320"/>
            <a:ext cx="4480560" cy="2194560"/>
          </a:xfrm>
          <a:prstGeom prst="roundRect">
            <a:avLst>
              <a:gd name="adj" fmla="val 6000"/>
            </a:avLst>
          </a:prstGeom>
          <a:solidFill>
            <a:srgbClr val="1E4A47"/>
          </a:solidFill>
          <a:ln w="12700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388620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4FD1C5"/>
                </a:solidFill>
                <a:latin typeface="Segoe UI Semibold"/>
              </a:rPr>
              <a:t>CHECKPOINT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4206240"/>
            <a:ext cx="402336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E7EEF4"/>
                </a:solidFill>
                <a:latin typeface="Consolas"/>
              </a:rPr>
              <a:t>If a calculator's Input is the buttons you press, what's its Output — and where does the Process actually happen?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4636F"/>
                </a:solidFill>
                <a:latin typeface="Consolas"/>
              </a:rPr>
              <a:t>DIGITAL TECHNOLOGIES · EDUCPU-8 — VISUAL ASSEMBLY SIMULATOR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71455" y="6528816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4636F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B98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20624"/>
            <a:ext cx="88900" cy="88900"/>
          </a:xfrm>
          <a:prstGeom prst="ellipse">
            <a:avLst/>
          </a:prstGeom>
          <a:solidFill>
            <a:srgbClr val="B98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98CF2"/>
                </a:solidFill>
                <a:latin typeface="Segoe UI Semibold"/>
              </a:rPr>
              <a:t>THE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92608"/>
            <a:ext cx="960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2600" b="1">
                <a:solidFill>
                  <a:srgbClr val="B98CF2"/>
                </a:solidFill>
                <a:latin typeface="Segoe U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556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E7EEF4"/>
                </a:solidFill>
                <a:latin typeface="Segoe UI"/>
              </a:rPr>
              <a:t>A Tiny Made-Up Chip, Built to Be Watched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496A6"/>
                </a:solidFill>
                <a:latin typeface="Segoe UI Semibold"/>
              </a:rPr>
              <a:t>THE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64008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350" b="1">
                <a:solidFill>
                  <a:srgbClr val="B98CF2"/>
                </a:solidFill>
                <a:latin typeface="Consolas"/>
              </a:rPr>
              <a:t>•  </a:t>
            </a:r>
            <a:r>
              <a:rPr sz="1350" b="0">
                <a:solidFill>
                  <a:srgbClr val="8496A6"/>
                </a:solidFill>
                <a:latin typeface="Consolas"/>
              </a:rPr>
              <a:t>ACC is the only general register — every value passes through it, so "processing" is always visible in one place.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350" b="1">
                <a:solidFill>
                  <a:srgbClr val="B98CF2"/>
                </a:solidFill>
                <a:latin typeface="Consolas"/>
              </a:rPr>
              <a:t>•  </a:t>
            </a:r>
            <a:r>
              <a:rPr sz="1350" b="0">
                <a:solidFill>
                  <a:srgbClr val="8496A6"/>
                </a:solidFill>
                <a:latin typeface="Consolas"/>
              </a:rPr>
              <a:t>16 memory cells (addresses 0–15) hold data; the program is a separate list of instructions, so there’s no self-modifying code to explain.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350" b="1">
                <a:solidFill>
                  <a:srgbClr val="B98CF2"/>
                </a:solidFill>
                <a:latin typeface="Consolas"/>
              </a:rPr>
              <a:t>•  </a:t>
            </a:r>
            <a:r>
              <a:rPr sz="1350" b="0">
                <a:solidFill>
                  <a:srgbClr val="8496A6"/>
                </a:solidFill>
                <a:latin typeface="Consolas"/>
              </a:rPr>
              <a:t>PC always shows which line runs next; the Zero flag records whether the last LOAD/ADD/SUB produced 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776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496A6"/>
                </a:solidFill>
                <a:latin typeface="Segoe UI Semibold"/>
              </a:rPr>
              <a:t>THE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15968"/>
            <a:ext cx="6400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8496A6"/>
                </a:solidFill>
                <a:latin typeface="Consolas"/>
              </a:rPr>
              <a:t>Nine instructions cover everything: moving data (LOAD/STORE), arithmetic (ADD/SUB), control flow (JMP/JZ), output (OUT/OUTC), and stopping (HALT). The full reference is one click away in the Theory &amp; Help panel — and on the next slide.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1600200"/>
            <a:ext cx="4480560" cy="1920240"/>
          </a:xfrm>
          <a:prstGeom prst="roundRect">
            <a:avLst>
              <a:gd name="adj" fmla="val 6000"/>
            </a:avLst>
          </a:prstGeom>
          <a:solidFill>
            <a:srgbClr val="16241A"/>
          </a:solidFill>
          <a:ln w="12700">
            <a:solidFill>
              <a:srgbClr val="8FD1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8308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8FD17A"/>
                </a:solidFill>
                <a:latin typeface="Segoe UI Semibold"/>
              </a:rPr>
              <a:t>🧪 TRY IT YOURSELF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103120"/>
            <a:ext cx="402336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E7EEF4"/>
                </a:solidFill>
                <a:latin typeface="Consolas"/>
              </a:rPr>
              <a:t>Open the Theory &amp; Help slide-out with students on screen — it has the same instruction table as the next slide, so they know where to find it again.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78040" y="3703320"/>
            <a:ext cx="4480560" cy="2194560"/>
          </a:xfrm>
          <a:prstGeom prst="roundRect">
            <a:avLst>
              <a:gd name="adj" fmla="val 6000"/>
            </a:avLst>
          </a:prstGeom>
          <a:solidFill>
            <a:srgbClr val="332048"/>
          </a:solidFill>
          <a:ln w="12700">
            <a:solidFill>
              <a:srgbClr val="B98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388620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B98CF2"/>
                </a:solidFill>
                <a:latin typeface="Segoe UI Semibold"/>
              </a:rPr>
              <a:t>CHECKPOINT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4206240"/>
            <a:ext cx="402336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E7EEF4"/>
                </a:solidFill>
                <a:latin typeface="Consolas"/>
              </a:rPr>
              <a:t>Why does giving the chip only one general register (ACC) make it easier to follow what’s happening, instead of harder?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4636F"/>
                </a:solidFill>
                <a:latin typeface="Consolas"/>
              </a:rPr>
              <a:t>DIGITAL TECHNOLOGIES · EDUCPU-8 — VISUAL ASSEMBLY SIMULATOR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71455" y="6528816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4636F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20624"/>
            <a:ext cx="88900" cy="88900"/>
          </a:xfrm>
          <a:prstGeom prst="ellipse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2A65A"/>
                </a:solidFill>
                <a:latin typeface="Segoe UI Semibold"/>
              </a:rPr>
              <a:t>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92608"/>
            <a:ext cx="960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2600" b="1">
                <a:solidFill>
                  <a:srgbClr val="F2A65A"/>
                </a:solidFill>
                <a:latin typeface="Segoe U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556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E7EEF4"/>
                </a:solidFill>
                <a:latin typeface="Segoe UI"/>
              </a:rPr>
              <a:t>Instruction Set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496A6"/>
                </a:solidFill>
                <a:latin typeface="Consolas"/>
              </a:rPr>
              <a:t>Nine instructions. Every EduCPU-8 program is built from these, and nothing else.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011680"/>
          <a:ext cx="111556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2A65A"/>
                          </a:solidFill>
                          <a:latin typeface="Segoe UI Semibold"/>
                        </a:rPr>
                        <a:t>OP</a:t>
                      </a:r>
                    </a:p>
                  </a:txBody>
                  <a:tcPr marL="91440" marR="91440" marT="45720" marB="45720"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2A65A"/>
                          </a:solidFill>
                          <a:latin typeface="Segoe UI Semibold"/>
                        </a:rPr>
                        <a:t>OPERAND</a:t>
                      </a:r>
                    </a:p>
                  </a:txBody>
                  <a:tcPr marL="91440" marR="91440" marT="45720" marB="45720"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2A65A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marL="91440" marR="91440" marT="45720" marB="45720" anchor="ctr">
                    <a:solidFill>
                      <a:srgbClr val="1A222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4FD1C5"/>
                          </a:solidFill>
                          <a:latin typeface="Consolas"/>
                        </a:rPr>
                        <a:t>LOAD</a:t>
                      </a:r>
                    </a:p>
                  </a:txBody>
                  <a:tcPr marL="91440" marR="91440" marT="36576" marB="36576" anchor="ctr">
                    <a:solidFill>
                      <a:srgbClr val="12182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8496A6"/>
                          </a:solidFill>
                          <a:latin typeface="Segoe UI"/>
                        </a:rPr>
                        <a:t>addr or #val</a:t>
                      </a:r>
                    </a:p>
                  </a:txBody>
                  <a:tcPr marL="91440" marR="91440" marT="36576" marB="36576" anchor="ctr">
                    <a:solidFill>
                      <a:srgbClr val="12182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8496A6"/>
                          </a:solidFill>
                          <a:latin typeface="Segoe UI"/>
                        </a:rPr>
                        <a:t>ACC ← memory[addr], or ACC ← val</a:t>
                      </a:r>
                    </a:p>
                  </a:txBody>
                  <a:tcPr marL="91440" marR="91440" marT="36576" marB="36576" anchor="ctr">
                    <a:solidFill>
                      <a:srgbClr val="12182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4FD1C5"/>
                          </a:solidFill>
                          <a:latin typeface="Consolas"/>
                        </a:rPr>
                        <a:t>STORE</a:t>
                      </a:r>
                    </a:p>
                  </a:txBody>
                  <a:tcPr marL="91440" marR="91440" marT="36576" marB="36576" anchor="ctr">
                    <a:solidFill>
                      <a:srgbClr val="12182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8496A6"/>
                          </a:solidFill>
                          <a:latin typeface="Segoe UI"/>
                        </a:rPr>
                        <a:t>addr</a:t>
                      </a:r>
                    </a:p>
                  </a:txBody>
                  <a:tcPr marL="91440" marR="91440" marT="36576" marB="36576" anchor="ctr">
                    <a:solidFill>
                      <a:srgbClr val="12182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8496A6"/>
                          </a:solidFill>
                          <a:latin typeface="Segoe UI"/>
                        </a:rPr>
                        <a:t>memory[addr] ← ACC</a:t>
                      </a:r>
                    </a:p>
                  </a:txBody>
                  <a:tcPr marL="91440" marR="91440" marT="36576" marB="36576" anchor="ctr">
                    <a:solidFill>
                      <a:srgbClr val="12182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4FD1C5"/>
                          </a:solidFill>
                          <a:latin typeface="Consolas"/>
                        </a:rPr>
                        <a:t>ADD</a:t>
                      </a:r>
                    </a:p>
                  </a:txBody>
                  <a:tcPr marL="91440" marR="91440" marT="36576" marB="36576" anchor="ctr">
                    <a:solidFill>
                      <a:srgbClr val="12182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8496A6"/>
                          </a:solidFill>
                          <a:latin typeface="Segoe UI"/>
                        </a:rPr>
                        <a:t>addr or #val</a:t>
                      </a:r>
                    </a:p>
                  </a:txBody>
                  <a:tcPr marL="91440" marR="91440" marT="36576" marB="36576" anchor="ctr">
                    <a:solidFill>
                      <a:srgbClr val="12182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8496A6"/>
                          </a:solidFill>
                          <a:latin typeface="Segoe UI"/>
                        </a:rPr>
                        <a:t>ACC ← ACC + (…)</a:t>
                      </a:r>
                    </a:p>
                  </a:txBody>
                  <a:tcPr marL="91440" marR="91440" marT="36576" marB="36576" anchor="ctr">
                    <a:solidFill>
                      <a:srgbClr val="12182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4FD1C5"/>
                          </a:solidFill>
                          <a:latin typeface="Consolas"/>
                        </a:rPr>
                        <a:t>SUB</a:t>
                      </a:r>
                    </a:p>
                  </a:txBody>
                  <a:tcPr marL="91440" marR="91440" marT="36576" marB="36576" anchor="ctr">
                    <a:solidFill>
                      <a:srgbClr val="12182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8496A6"/>
                          </a:solidFill>
                          <a:latin typeface="Segoe UI"/>
                        </a:rPr>
                        <a:t>addr or #val</a:t>
                      </a:r>
                    </a:p>
                  </a:txBody>
                  <a:tcPr marL="91440" marR="91440" marT="36576" marB="36576" anchor="ctr">
                    <a:solidFill>
                      <a:srgbClr val="12182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8496A6"/>
                          </a:solidFill>
                          <a:latin typeface="Segoe UI"/>
                        </a:rPr>
                        <a:t>ACC ← ACC − (…)</a:t>
                      </a:r>
                    </a:p>
                  </a:txBody>
                  <a:tcPr marL="91440" marR="91440" marT="36576" marB="36576" anchor="ctr">
                    <a:solidFill>
                      <a:srgbClr val="12182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4FD1C5"/>
                          </a:solidFill>
                          <a:latin typeface="Consolas"/>
                        </a:rPr>
                        <a:t>JMP</a:t>
                      </a:r>
                    </a:p>
                  </a:txBody>
                  <a:tcPr marL="91440" marR="91440" marT="36576" marB="36576" anchor="ctr">
                    <a:solidFill>
                      <a:srgbClr val="12182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8496A6"/>
                          </a:solidFill>
                          <a:latin typeface="Segoe UI"/>
                        </a:rPr>
                        <a:t>line</a:t>
                      </a:r>
                    </a:p>
                  </a:txBody>
                  <a:tcPr marL="91440" marR="91440" marT="36576" marB="36576" anchor="ctr">
                    <a:solidFill>
                      <a:srgbClr val="12182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8496A6"/>
                          </a:solidFill>
                          <a:latin typeface="Segoe UI"/>
                        </a:rPr>
                        <a:t>jump to that line</a:t>
                      </a:r>
                    </a:p>
                  </a:txBody>
                  <a:tcPr marL="91440" marR="91440" marT="36576" marB="36576" anchor="ctr">
                    <a:solidFill>
                      <a:srgbClr val="12182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4FD1C5"/>
                          </a:solidFill>
                          <a:latin typeface="Consolas"/>
                        </a:rPr>
                        <a:t>JZ</a:t>
                      </a:r>
                    </a:p>
                  </a:txBody>
                  <a:tcPr marL="91440" marR="91440" marT="36576" marB="36576" anchor="ctr">
                    <a:solidFill>
                      <a:srgbClr val="12182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8496A6"/>
                          </a:solidFill>
                          <a:latin typeface="Segoe UI"/>
                        </a:rPr>
                        <a:t>line</a:t>
                      </a:r>
                    </a:p>
                  </a:txBody>
                  <a:tcPr marL="91440" marR="91440" marT="36576" marB="36576" anchor="ctr">
                    <a:solidFill>
                      <a:srgbClr val="12182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8496A6"/>
                          </a:solidFill>
                          <a:latin typeface="Segoe UI"/>
                        </a:rPr>
                        <a:t>jump there only if ACC is 0</a:t>
                      </a:r>
                    </a:p>
                  </a:txBody>
                  <a:tcPr marL="91440" marR="91440" marT="36576" marB="36576" anchor="ctr">
                    <a:solidFill>
                      <a:srgbClr val="12182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4FD1C5"/>
                          </a:solidFill>
                          <a:latin typeface="Consolas"/>
                        </a:rPr>
                        <a:t>OUT</a:t>
                      </a:r>
                    </a:p>
                  </a:txBody>
                  <a:tcPr marL="91440" marR="91440" marT="36576" marB="36576" anchor="ctr">
                    <a:solidFill>
                      <a:srgbClr val="12182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8496A6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91440" marR="91440" marT="36576" marB="36576" anchor="ctr">
                    <a:solidFill>
                      <a:srgbClr val="12182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8496A6"/>
                          </a:solidFill>
                          <a:latin typeface="Segoe UI"/>
                        </a:rPr>
                        <a:t>print ACC as a number</a:t>
                      </a:r>
                    </a:p>
                  </a:txBody>
                  <a:tcPr marL="91440" marR="91440" marT="36576" marB="36576" anchor="ctr">
                    <a:solidFill>
                      <a:srgbClr val="12182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4FD1C5"/>
                          </a:solidFill>
                          <a:latin typeface="Consolas"/>
                        </a:rPr>
                        <a:t>OUTC</a:t>
                      </a:r>
                    </a:p>
                  </a:txBody>
                  <a:tcPr marL="91440" marR="91440" marT="36576" marB="36576" anchor="ctr">
                    <a:solidFill>
                      <a:srgbClr val="12182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8496A6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91440" marR="91440" marT="36576" marB="36576" anchor="ctr">
                    <a:solidFill>
                      <a:srgbClr val="12182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8496A6"/>
                          </a:solidFill>
                          <a:latin typeface="Segoe UI"/>
                        </a:rPr>
                        <a:t>print ACC as a character — #'H' is shorthand for a character's code</a:t>
                      </a:r>
                    </a:p>
                  </a:txBody>
                  <a:tcPr marL="91440" marR="91440" marT="36576" marB="36576" anchor="ctr">
                    <a:solidFill>
                      <a:srgbClr val="12182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4FD1C5"/>
                          </a:solidFill>
                          <a:latin typeface="Consolas"/>
                        </a:rPr>
                        <a:t>HALT</a:t>
                      </a:r>
                    </a:p>
                  </a:txBody>
                  <a:tcPr marL="91440" marR="91440" marT="36576" marB="36576" anchor="ctr">
                    <a:solidFill>
                      <a:srgbClr val="12182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8496A6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91440" marR="91440" marT="36576" marB="36576" anchor="ctr">
                    <a:solidFill>
                      <a:srgbClr val="12182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8496A6"/>
                          </a:solidFill>
                          <a:latin typeface="Segoe UI"/>
                        </a:rPr>
                        <a:t>stop the program</a:t>
                      </a:r>
                    </a:p>
                  </a:txBody>
                  <a:tcPr marL="91440" marR="91440" marT="36576" marB="36576" anchor="ctr">
                    <a:solidFill>
                      <a:srgbClr val="121821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4636F"/>
                </a:solidFill>
                <a:latin typeface="Consolas"/>
              </a:rPr>
              <a:t>DIGITAL TECHNOLOGIES · EDUCPU-8 — VISUAL ASSEMBLY SIMULATOR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528816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4636F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20624"/>
            <a:ext cx="88900" cy="88900"/>
          </a:xfrm>
          <a:prstGeom prst="ellipse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2A65A"/>
                </a:solidFill>
                <a:latin typeface="Segoe UI Semibold"/>
              </a:rPr>
              <a:t>WALKTHROUGH ·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92608"/>
            <a:ext cx="960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2600" b="1">
                <a:solidFill>
                  <a:srgbClr val="F2A65A"/>
                </a:solidFill>
                <a:latin typeface="Segoe U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556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E7EEF4"/>
                </a:solidFill>
                <a:latin typeface="Segoe UI"/>
              </a:rPr>
              <a:t>Hello 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496A6"/>
                </a:solidFill>
                <a:latin typeface="Segoe UI Semibold"/>
              </a:rPr>
              <a:t>THE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64008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350" b="1">
                <a:solidFill>
                  <a:srgbClr val="F2A65A"/>
                </a:solidFill>
                <a:latin typeface="Consolas"/>
              </a:rPr>
              <a:t>•  </a:t>
            </a:r>
            <a:r>
              <a:rPr sz="1350" b="0">
                <a:solidFill>
                  <a:srgbClr val="8496A6"/>
                </a:solidFill>
                <a:latin typeface="Consolas"/>
              </a:rPr>
              <a:t>No loop needed — every character is printed by its own LOAD + OUTC pair.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350" b="1">
                <a:solidFill>
                  <a:srgbClr val="F2A65A"/>
                </a:solidFill>
                <a:latin typeface="Consolas"/>
              </a:rPr>
              <a:t>•  </a:t>
            </a:r>
            <a:r>
              <a:rPr sz="1350" b="0">
                <a:solidFill>
                  <a:srgbClr val="8496A6"/>
                </a:solidFill>
                <a:latin typeface="Consolas"/>
              </a:rPr>
              <a:t>#'H' is shorthand for a character's ASCII code; LOAD #'H' then OUTC prints “H”.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350" b="1">
                <a:solidFill>
                  <a:srgbClr val="F2A65A"/>
                </a:solidFill>
                <a:latin typeface="Consolas"/>
              </a:rPr>
              <a:t>•  </a:t>
            </a:r>
            <a:r>
              <a:rPr sz="1350" b="0">
                <a:solidFill>
                  <a:srgbClr val="8496A6"/>
                </a:solidFill>
                <a:latin typeface="Consolas"/>
              </a:rPr>
              <a:t>This program has no memory or Input step at all — it’s Output in isolation.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776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496A6"/>
                </a:solidFill>
                <a:latin typeface="Segoe UI Semibold"/>
              </a:rPr>
              <a:t>THE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15968"/>
            <a:ext cx="6400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8496A6"/>
                </a:solidFill>
                <a:latin typeface="Consolas"/>
              </a:rPr>
              <a:t>LOAD #'H' → OUTC → LOAD #'i' → OUTC → LOAD #'!' → OUTC → HALT prints Hi! to the console, one character at a 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1600200"/>
            <a:ext cx="4480560" cy="1920240"/>
          </a:xfrm>
          <a:prstGeom prst="roundRect">
            <a:avLst>
              <a:gd name="adj" fmla="val 6000"/>
            </a:avLst>
          </a:prstGeom>
          <a:solidFill>
            <a:srgbClr val="16241A"/>
          </a:solidFill>
          <a:ln w="12700">
            <a:solidFill>
              <a:srgbClr val="8FD1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8308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8FD17A"/>
                </a:solidFill>
                <a:latin typeface="Segoe UI Semibold"/>
              </a:rPr>
              <a:t>🧪 TRY IT YOURSELF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103120"/>
            <a:ext cx="402336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E7EEF4"/>
                </a:solidFill>
                <a:latin typeface="Consolas"/>
              </a:rPr>
              <a:t>Change the characters (or add more LOAD/OUTC pairs) to print a student’s own name instead of “Hi!”.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78040" y="3703320"/>
            <a:ext cx="4480560" cy="2194560"/>
          </a:xfrm>
          <a:prstGeom prst="roundRect">
            <a:avLst>
              <a:gd name="adj" fmla="val 6000"/>
            </a:avLst>
          </a:prstGeom>
          <a:solidFill>
            <a:srgbClr val="4A331B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388620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2A65A"/>
                </a:solidFill>
                <a:latin typeface="Segoe UI Semibold"/>
              </a:rPr>
              <a:t>CHECKPOINT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4206240"/>
            <a:ext cx="402336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E7EEF4"/>
                </a:solidFill>
                <a:latin typeface="Consolas"/>
              </a:rPr>
              <a:t>Why does OUTC need a character's numeric code, and where does #'H' actually come from?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4636F"/>
                </a:solidFill>
                <a:latin typeface="Consolas"/>
              </a:rPr>
              <a:t>DIGITAL TECHNOLOGIES · EDUCPU-8 — VISUAL ASSEMBLY SIMULATOR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71455" y="6528816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4636F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B98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20624"/>
            <a:ext cx="88900" cy="88900"/>
          </a:xfrm>
          <a:prstGeom prst="ellipse">
            <a:avLst/>
          </a:prstGeom>
          <a:solidFill>
            <a:srgbClr val="B98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98CF2"/>
                </a:solidFill>
                <a:latin typeface="Segoe UI Semibold"/>
              </a:rPr>
              <a:t>WALKTHROUGH ·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92608"/>
            <a:ext cx="960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2600" b="1">
                <a:solidFill>
                  <a:srgbClr val="B98CF2"/>
                </a:solidFill>
                <a:latin typeface="Segoe U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556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E7EEF4"/>
                </a:solidFill>
                <a:latin typeface="Segoe UI"/>
              </a:rPr>
              <a:t>Countdown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496A6"/>
                </a:solidFill>
                <a:latin typeface="Segoe UI Semibold"/>
              </a:rPr>
              <a:t>THE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64008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350" b="1">
                <a:solidFill>
                  <a:srgbClr val="B98CF2"/>
                </a:solidFill>
                <a:latin typeface="Consolas"/>
              </a:rPr>
              <a:t>•  </a:t>
            </a:r>
            <a:r>
              <a:rPr sz="1350" b="0">
                <a:solidFill>
                  <a:srgbClr val="8496A6"/>
                </a:solidFill>
                <a:latin typeface="Consolas"/>
              </a:rPr>
              <a:t>JZ jumps only when the Zero flag is set — the loop keeps going until the counter hits 0.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350" b="1">
                <a:solidFill>
                  <a:srgbClr val="B98CF2"/>
                </a:solidFill>
                <a:latin typeface="Consolas"/>
              </a:rPr>
              <a:t>•  </a:t>
            </a:r>
            <a:r>
              <a:rPr sz="1350" b="0">
                <a:solidFill>
                  <a:srgbClr val="8496A6"/>
                </a:solidFill>
                <a:latin typeface="Consolas"/>
              </a:rPr>
              <a:t>SUB #1 shrinks the counter by exactly one each pass through the loop.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350" b="1">
                <a:solidFill>
                  <a:srgbClr val="B98CF2"/>
                </a:solidFill>
                <a:latin typeface="Consolas"/>
              </a:rPr>
              <a:t>•  </a:t>
            </a:r>
            <a:r>
              <a:rPr sz="1350" b="0">
                <a:solidFill>
                  <a:srgbClr val="8496A6"/>
                </a:solidFill>
                <a:latin typeface="Consolas"/>
              </a:rPr>
              <a:t>JMP unconditionally sends execution back to the top of the loop.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776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496A6"/>
                </a:solidFill>
                <a:latin typeface="Segoe UI Semibold"/>
              </a:rPr>
              <a:t>THE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15968"/>
            <a:ext cx="6400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8496A6"/>
                </a:solidFill>
                <a:latin typeface="Consolas"/>
              </a:rPr>
              <a:t>Memory cell 0 starts as the counter. Each pass prints its value, subtracts 1, stores it back, then jumps back — until JZ sends it straight to HALT.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1600200"/>
            <a:ext cx="4480560" cy="1920240"/>
          </a:xfrm>
          <a:prstGeom prst="roundRect">
            <a:avLst>
              <a:gd name="adj" fmla="val 6000"/>
            </a:avLst>
          </a:prstGeom>
          <a:solidFill>
            <a:srgbClr val="16241A"/>
          </a:solidFill>
          <a:ln w="12700">
            <a:solidFill>
              <a:srgbClr val="8FD1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8308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8FD17A"/>
                </a:solidFill>
                <a:latin typeface="Segoe UI Semibold"/>
              </a:rPr>
              <a:t>🧪 TRY IT YOURSELF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103120"/>
            <a:ext cx="402336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E7EEF4"/>
                </a:solidFill>
                <a:latin typeface="Consolas"/>
              </a:rPr>
              <a:t>Click memory cell 0 before running and change the starting count — try 1, then try a bigger number and switch to Run instead of Step.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78040" y="3703320"/>
            <a:ext cx="4480560" cy="2194560"/>
          </a:xfrm>
          <a:prstGeom prst="roundRect">
            <a:avLst>
              <a:gd name="adj" fmla="val 6000"/>
            </a:avLst>
          </a:prstGeom>
          <a:solidFill>
            <a:srgbClr val="332048"/>
          </a:solidFill>
          <a:ln w="12700">
            <a:solidFill>
              <a:srgbClr val="B98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388620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B98CF2"/>
                </a:solidFill>
                <a:latin typeface="Segoe UI Semibold"/>
              </a:rPr>
              <a:t>CHECKPOINT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4206240"/>
            <a:ext cx="402336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E7EEF4"/>
                </a:solidFill>
                <a:latin typeface="Consolas"/>
              </a:rPr>
              <a:t>What would happen if the JZ line were deleted — would the program ever stop, and why?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4636F"/>
                </a:solidFill>
                <a:latin typeface="Consolas"/>
              </a:rPr>
              <a:t>DIGITAL TECHNOLOGIES · EDUCPU-8 — VISUAL ASSEMBLY SIMULATOR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71455" y="6528816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4636F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20624"/>
            <a:ext cx="88900" cy="88900"/>
          </a:xfrm>
          <a:prstGeom prst="ellipse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4FD1C5"/>
                </a:solidFill>
                <a:latin typeface="Segoe UI Semibold"/>
              </a:rPr>
              <a:t>WALKTHROUGH · 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92608"/>
            <a:ext cx="960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2600" b="1">
                <a:solidFill>
                  <a:srgbClr val="4FD1C5"/>
                </a:solidFill>
                <a:latin typeface="Segoe U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556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E7EEF4"/>
                </a:solidFill>
                <a:latin typeface="Segoe UI"/>
              </a:rPr>
              <a:t>Add Two Numbers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496A6"/>
                </a:solidFill>
                <a:latin typeface="Segoe UI Semibold"/>
              </a:rPr>
              <a:t>THE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64008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350" b="1">
                <a:solidFill>
                  <a:srgbClr val="4FD1C5"/>
                </a:solidFill>
                <a:latin typeface="Consolas"/>
              </a:rPr>
              <a:t>•  </a:t>
            </a:r>
            <a:r>
              <a:rPr sz="1350" b="0">
                <a:solidFill>
                  <a:srgbClr val="8496A6"/>
                </a:solidFill>
                <a:latin typeface="Consolas"/>
              </a:rPr>
              <a:t>Memory cells 0 and 1 are the Input — editable right after the example loads, before you Step or Run.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350" b="1">
                <a:solidFill>
                  <a:srgbClr val="4FD1C5"/>
                </a:solidFill>
                <a:latin typeface="Consolas"/>
              </a:rPr>
              <a:t>•  </a:t>
            </a:r>
            <a:r>
              <a:rPr sz="1350" b="0">
                <a:solidFill>
                  <a:srgbClr val="8496A6"/>
                </a:solidFill>
                <a:latin typeface="Consolas"/>
              </a:rPr>
              <a:t>LOAD then ADD combines two values through ACC — the same "everything passes through one place" idea as the chip itself.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350" b="1">
                <a:solidFill>
                  <a:srgbClr val="4FD1C5"/>
                </a:solidFill>
                <a:latin typeface="Consolas"/>
              </a:rPr>
              <a:t>•  </a:t>
            </a:r>
            <a:r>
              <a:rPr sz="1350" b="0">
                <a:solidFill>
                  <a:srgbClr val="8496A6"/>
                </a:solidFill>
                <a:latin typeface="Consolas"/>
              </a:rPr>
              <a:t>STORE writes the result back to memory before OUT prints it — Process finishing before Output begins.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776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496A6"/>
                </a:solidFill>
                <a:latin typeface="Segoe UI Semibold"/>
              </a:rPr>
              <a:t>THE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15968"/>
            <a:ext cx="6400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8496A6"/>
                </a:solidFill>
                <a:latin typeface="Consolas"/>
              </a:rPr>
              <a:t>LOAD 0 → ADD 1 → STORE 2 → OUT → HALT adds whatever is in cells 0 and 1, saves the sum in cell 2, and prints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1600200"/>
            <a:ext cx="4480560" cy="1920240"/>
          </a:xfrm>
          <a:prstGeom prst="roundRect">
            <a:avLst>
              <a:gd name="adj" fmla="val 6000"/>
            </a:avLst>
          </a:prstGeom>
          <a:solidFill>
            <a:srgbClr val="16241A"/>
          </a:solidFill>
          <a:ln w="12700">
            <a:solidFill>
              <a:srgbClr val="8FD1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8308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8FD17A"/>
                </a:solidFill>
                <a:latin typeface="Segoe UI Semibold"/>
              </a:rPr>
              <a:t>🧪 TRY IT YOURSELF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103120"/>
            <a:ext cx="402336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E7EEF4"/>
                </a:solidFill>
                <a:latin typeface="Consolas"/>
              </a:rPr>
              <a:t>Edit memory cells 0 and 1 to two different numbers before running, and predict the printed sum before clicking Step.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78040" y="3703320"/>
            <a:ext cx="4480560" cy="2194560"/>
          </a:xfrm>
          <a:prstGeom prst="roundRect">
            <a:avLst>
              <a:gd name="adj" fmla="val 6000"/>
            </a:avLst>
          </a:prstGeom>
          <a:solidFill>
            <a:srgbClr val="1E4A47"/>
          </a:solidFill>
          <a:ln w="12700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388620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4FD1C5"/>
                </a:solidFill>
                <a:latin typeface="Segoe UI Semibold"/>
              </a:rPr>
              <a:t>CHECKPOINT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4206240"/>
            <a:ext cx="402336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E7EEF4"/>
                </a:solidFill>
                <a:latin typeface="Consolas"/>
              </a:rPr>
              <a:t>Which single memory cell holds this program’s result — and how is that different to what OUT actually prints?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4636F"/>
                </a:solidFill>
                <a:latin typeface="Consolas"/>
              </a:rPr>
              <a:t>DIGITAL TECHNOLOGIES · EDUCPU-8 — VISUAL ASSEMBLY SIMULATOR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71455" y="6528816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4636F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20624"/>
            <a:ext cx="88900" cy="88900"/>
          </a:xfrm>
          <a:prstGeom prst="ellipse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2A65A"/>
                </a:solidFill>
                <a:latin typeface="Segoe UI Semibold"/>
              </a:rPr>
              <a:t>IN THE CLASSROOM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92608"/>
            <a:ext cx="960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2600" b="1">
                <a:solidFill>
                  <a:srgbClr val="F2A65A"/>
                </a:solidFill>
                <a:latin typeface="Segoe U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556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E7EEF4"/>
                </a:solidFill>
                <a:latin typeface="Segoe UI"/>
              </a:rPr>
              <a:t>A Suggested 45-Minute Lesson 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658368"/>
          </a:xfrm>
          <a:prstGeom prst="roundRect">
            <a:avLst>
              <a:gd name="adj" fmla="val 6000"/>
            </a:avLst>
          </a:prstGeom>
          <a:solidFill>
            <a:srgbClr val="121821"/>
          </a:solidFill>
          <a:ln w="12700">
            <a:solidFill>
              <a:srgbClr val="2632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00200"/>
            <a:ext cx="54864" cy="658368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4FD1C5"/>
                </a:solidFill>
                <a:latin typeface="Segoe UI Semibold"/>
              </a:rPr>
              <a:t>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16916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7EEF4"/>
                </a:solidFill>
                <a:latin typeface="Consolas"/>
              </a:rPr>
              <a:t>Discuss IPO with an everyday example — a vending machine, a microwave, an ATM.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86584"/>
            <a:ext cx="11155680" cy="658368"/>
          </a:xfrm>
          <a:prstGeom prst="roundRect">
            <a:avLst>
              <a:gd name="adj" fmla="val 6000"/>
            </a:avLst>
          </a:prstGeom>
          <a:solidFill>
            <a:srgbClr val="121821"/>
          </a:solidFill>
          <a:ln w="12700">
            <a:solidFill>
              <a:srgbClr val="2632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386584"/>
            <a:ext cx="54864" cy="658368"/>
          </a:xfrm>
          <a:prstGeom prst="rect">
            <a:avLst/>
          </a:prstGeom>
          <a:solidFill>
            <a:srgbClr val="B98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478024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98CF2"/>
                </a:solidFill>
                <a:latin typeface="Segoe UI Semibold"/>
              </a:rPr>
              <a:t>10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478024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7EEF4"/>
                </a:solidFill>
                <a:latin typeface="Consolas"/>
              </a:rPr>
              <a:t>Demo: load Hello Text together as a class and Step through it line by 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172968"/>
            <a:ext cx="11155680" cy="658368"/>
          </a:xfrm>
          <a:prstGeom prst="roundRect">
            <a:avLst>
              <a:gd name="adj" fmla="val 6000"/>
            </a:avLst>
          </a:prstGeom>
          <a:solidFill>
            <a:srgbClr val="121821"/>
          </a:solidFill>
          <a:ln w="12700">
            <a:solidFill>
              <a:srgbClr val="2632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172968"/>
            <a:ext cx="54864" cy="658368"/>
          </a:xfrm>
          <a:prstGeom prst="rect">
            <a:avLst/>
          </a:prstGeom>
          <a:solidFill>
            <a:srgbClr val="B98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264408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98CF2"/>
                </a:solidFill>
                <a:latin typeface="Segoe UI Semibold"/>
              </a:rPr>
              <a:t>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326440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7EEF4"/>
                </a:solidFill>
                <a:latin typeface="Consolas"/>
              </a:rPr>
              <a:t>Pairs: work through Countdown Loop and Add Two Numbers, using each slide’s checkpoint question.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59352"/>
            <a:ext cx="11155680" cy="658368"/>
          </a:xfrm>
          <a:prstGeom prst="roundRect">
            <a:avLst>
              <a:gd name="adj" fmla="val 6000"/>
            </a:avLst>
          </a:prstGeom>
          <a:solidFill>
            <a:srgbClr val="121821"/>
          </a:solidFill>
          <a:ln w="12700">
            <a:solidFill>
              <a:srgbClr val="2632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959352"/>
            <a:ext cx="54864" cy="658368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050792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2A65A"/>
                </a:solidFill>
                <a:latin typeface="Segoe UI Semibold"/>
              </a:rPr>
              <a:t>10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4050792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7EEF4"/>
                </a:solidFill>
                <a:latin typeface="Consolas"/>
              </a:rPr>
              <a:t>Challenge: write a fourth program from scratch — print a name, or add three numbers.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745736"/>
            <a:ext cx="11155680" cy="658368"/>
          </a:xfrm>
          <a:prstGeom prst="roundRect">
            <a:avLst>
              <a:gd name="adj" fmla="val 6000"/>
            </a:avLst>
          </a:prstGeom>
          <a:solidFill>
            <a:srgbClr val="121821"/>
          </a:solidFill>
          <a:ln w="12700">
            <a:solidFill>
              <a:srgbClr val="2632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745736"/>
            <a:ext cx="54864" cy="658368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837176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4FD1C5"/>
                </a:solidFill>
                <a:latin typeface="Segoe UI Semibold"/>
              </a:rPr>
              <a:t>5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4837176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7EEF4"/>
                </a:solidFill>
                <a:latin typeface="Consolas"/>
              </a:rPr>
              <a:t>Wrap-up: what changed in ACC, memory and the console at each step?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4636F"/>
                </a:solidFill>
                <a:latin typeface="Consolas"/>
              </a:rPr>
              <a:t>DIGITAL TECHNOLOGIES · EDUCPU-8 — VISUAL ASSEMBLY SIMULATOR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71455" y="6528816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4636F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B98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777240"/>
            <a:ext cx="88900" cy="88900"/>
          </a:xfrm>
          <a:prstGeom prst="ellipse">
            <a:avLst/>
          </a:prstGeom>
          <a:solidFill>
            <a:srgbClr val="B98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B98CF2"/>
                </a:solidFill>
                <a:latin typeface="Segoe UI Semibold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E7EEF4"/>
                </a:solidFill>
                <a:latin typeface="Segoe UI"/>
              </a:rPr>
              <a:t>Input. Process. Output. Every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496A6"/>
                </a:solidFill>
                <a:latin typeface="Consolas"/>
              </a:rPr>
              <a:t>Once students can point to Input, Process and Output on EduCPU-8, they can point to it in any system — a phone, a website, a game.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3608705" cy="2560320"/>
          </a:xfrm>
          <a:prstGeom prst="roundRect">
            <a:avLst>
              <a:gd name="adj" fmla="val 6000"/>
            </a:avLst>
          </a:prstGeom>
          <a:solidFill>
            <a:srgbClr val="1E4A47"/>
          </a:solidFill>
          <a:ln w="12700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315150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4FD1C5"/>
                </a:solidFill>
                <a:latin typeface="Segoe UI Semibold"/>
              </a:rP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37560"/>
            <a:ext cx="315150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E7EEF4"/>
                </a:solidFill>
                <a:latin typeface="Consolas"/>
              </a:rPr>
              <a:t>Data goes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31920"/>
            <a:ext cx="315150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4636F"/>
                </a:solidFill>
                <a:latin typeface="Consolas"/>
              </a:rPr>
              <a:t>EXAMPLE: </a:t>
            </a:r>
            <a:r>
              <a:rPr sz="1050" b="0">
                <a:solidFill>
                  <a:srgbClr val="8496A6"/>
                </a:solidFill>
                <a:latin typeface="Consolas"/>
              </a:rPr>
              <a:t>A keyboard, a barcode scanner, a temperature sensor.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315150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4636F"/>
                </a:solidFill>
                <a:latin typeface="Consolas"/>
              </a:rPr>
              <a:t>IN EDUCPU-8: </a:t>
            </a:r>
            <a:r>
              <a:rPr sz="1050" b="0">
                <a:solidFill>
                  <a:srgbClr val="8496A6"/>
                </a:solidFill>
                <a:latin typeface="Consolas"/>
              </a:rPr>
              <a:t>The 16 memory cells you set before running.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6420" y="2743200"/>
            <a:ext cx="3608705" cy="2560320"/>
          </a:xfrm>
          <a:prstGeom prst="roundRect">
            <a:avLst>
              <a:gd name="adj" fmla="val 6000"/>
            </a:avLst>
          </a:prstGeom>
          <a:solidFill>
            <a:srgbClr val="332048"/>
          </a:solidFill>
          <a:ln w="12700">
            <a:solidFill>
              <a:srgbClr val="B98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5020" y="2926080"/>
            <a:ext cx="315150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B98CF2"/>
                </a:solidFill>
                <a:latin typeface="Segoe UI Semibold"/>
              </a:rPr>
              <a:t>PROCESS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5020" y="3337560"/>
            <a:ext cx="315150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E7EEF4"/>
                </a:solidFill>
                <a:latin typeface="Consolas"/>
              </a:rPr>
              <a:t>The system acts on the data, one instruction at a time.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5020" y="3931920"/>
            <a:ext cx="315150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4636F"/>
                </a:solidFill>
                <a:latin typeface="Consolas"/>
              </a:rPr>
              <a:t>EXAMPLE: </a:t>
            </a:r>
            <a:r>
              <a:rPr sz="1050" b="0">
                <a:solidFill>
                  <a:srgbClr val="8496A6"/>
                </a:solidFill>
                <a:latin typeface="Consolas"/>
              </a:rPr>
              <a:t>A calculator adding two numbers; a traffic light's timer.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5020" y="4663440"/>
            <a:ext cx="315150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4636F"/>
                </a:solidFill>
                <a:latin typeface="Consolas"/>
              </a:rPr>
              <a:t>IN EDUCPU-8: </a:t>
            </a:r>
            <a:r>
              <a:rPr sz="1050" b="0">
                <a:solidFill>
                  <a:srgbClr val="8496A6"/>
                </a:solidFill>
                <a:latin typeface="Consolas"/>
              </a:rPr>
              <a:t>The program, using ACC as a scratchpad.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04200" y="2743200"/>
            <a:ext cx="3608705" cy="2560320"/>
          </a:xfrm>
          <a:prstGeom prst="roundRect">
            <a:avLst>
              <a:gd name="adj" fmla="val 6000"/>
            </a:avLst>
          </a:prstGeom>
          <a:solidFill>
            <a:srgbClr val="4A331B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2800" y="2926080"/>
            <a:ext cx="315150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2A65A"/>
                </a:solidFill>
                <a:latin typeface="Segoe UI Semibold"/>
              </a:rPr>
              <a:t>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800" y="3337560"/>
            <a:ext cx="315150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E7EEF4"/>
                </a:solidFill>
                <a:latin typeface="Consolas"/>
              </a:rPr>
              <a:t>A result comes out.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800" y="3931920"/>
            <a:ext cx="315150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4636F"/>
                </a:solidFill>
                <a:latin typeface="Consolas"/>
              </a:rPr>
              <a:t>EXAMPLE: </a:t>
            </a:r>
            <a:r>
              <a:rPr sz="1050" b="0">
                <a:solidFill>
                  <a:srgbClr val="8496A6"/>
                </a:solidFill>
                <a:latin typeface="Consolas"/>
              </a:rPr>
              <a:t>A receipt printing; a speaker playing a sound.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2800" y="4663440"/>
            <a:ext cx="315150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4636F"/>
                </a:solidFill>
                <a:latin typeface="Consolas"/>
              </a:rPr>
              <a:t>IN EDUCPU-8: </a:t>
            </a:r>
            <a:r>
              <a:rPr sz="1050" b="0">
                <a:solidFill>
                  <a:srgbClr val="8496A6"/>
                </a:solidFill>
                <a:latin typeface="Consolas"/>
              </a:rPr>
              <a:t>Anything OUT or OUTC prints to the console.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578475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4636F"/>
                </a:solidFill>
                <a:latin typeface="Consolas"/>
              </a:rPr>
              <a:t>The tool: open index.html in any browser — no install, no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4636F"/>
                </a:solidFill>
                <a:latin typeface="Consolas"/>
              </a:rPr>
              <a:t>DIGITAL TECHNOLOGIES · EDUCPU-8 — VISUAL ASSEMBLY SIMULATOR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6528816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4636F"/>
                </a:solidFill>
                <a:latin typeface="Consolas"/>
              </a:rPr>
              <a:t>Wrap-up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